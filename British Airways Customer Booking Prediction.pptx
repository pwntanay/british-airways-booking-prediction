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Impact" charset="1" panose="020B0806030902050204"/>
      <p:regular r:id="rId11"/>
    </p:embeddedFont>
    <p:embeddedFont>
      <p:font typeface="Poppins" charset="1" panose="00000500000000000000"/>
      <p:regular r:id="rId12"/>
    </p:embeddedFont>
    <p:embeddedFont>
      <p:font typeface="Lato Bold" charset="1" panose="020F0502020204030203"/>
      <p:regular r:id="rId13"/>
    </p:embeddedFont>
    <p:embeddedFont>
      <p:font typeface="Lato" charset="1" panose="020F0502020204030203"/>
      <p:regular r:id="rId14"/>
    </p:embeddedFont>
    <p:embeddedFont>
      <p:font typeface="Poppins Italics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366517">
            <a:off x="8172982" y="-1473762"/>
            <a:ext cx="12307770" cy="7200900"/>
          </a:xfrm>
          <a:custGeom>
            <a:avLst/>
            <a:gdLst/>
            <a:ahLst/>
            <a:cxnLst/>
            <a:rect r="r" b="b" t="t" l="l"/>
            <a:pathLst>
              <a:path h="7200900" w="12307770">
                <a:moveTo>
                  <a:pt x="0" y="0"/>
                </a:moveTo>
                <a:lnTo>
                  <a:pt x="12307770" y="0"/>
                </a:lnTo>
                <a:lnTo>
                  <a:pt x="1230777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493551">
            <a:off x="-3091661" y="3509943"/>
            <a:ext cx="15325477" cy="8242765"/>
          </a:xfrm>
          <a:custGeom>
            <a:avLst/>
            <a:gdLst/>
            <a:ahLst/>
            <a:cxnLst/>
            <a:rect r="r" b="b" t="t" l="l"/>
            <a:pathLst>
              <a:path h="8242765" w="15325477">
                <a:moveTo>
                  <a:pt x="0" y="0"/>
                </a:moveTo>
                <a:lnTo>
                  <a:pt x="15325477" y="0"/>
                </a:lnTo>
                <a:lnTo>
                  <a:pt x="15325477" y="8242765"/>
                </a:lnTo>
                <a:lnTo>
                  <a:pt x="0" y="82427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50042" y="349542"/>
            <a:ext cx="9587917" cy="9587917"/>
          </a:xfrm>
          <a:custGeom>
            <a:avLst/>
            <a:gdLst/>
            <a:ahLst/>
            <a:cxnLst/>
            <a:rect r="r" b="b" t="t" l="l"/>
            <a:pathLst>
              <a:path h="9587917" w="9587917">
                <a:moveTo>
                  <a:pt x="0" y="0"/>
                </a:moveTo>
                <a:lnTo>
                  <a:pt x="9587916" y="0"/>
                </a:lnTo>
                <a:lnTo>
                  <a:pt x="9587916" y="9587916"/>
                </a:lnTo>
                <a:lnTo>
                  <a:pt x="0" y="9587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907958" y="4318496"/>
            <a:ext cx="19666920" cy="1373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3"/>
              </a:lnSpc>
            </a:pPr>
            <a:r>
              <a:rPr lang="en-US" sz="7202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BRITISH AIRWAYS CUSTOMER BOOKING PREDICTION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276101" y="5790033"/>
            <a:ext cx="18403206" cy="395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3"/>
              </a:lnSpc>
            </a:pPr>
            <a:r>
              <a:rPr lang="en-US" sz="2103" spc="48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MACHINE LEARNING PROJECT USING RANDOM FOREST CLASSIFIER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089352" y="7828691"/>
            <a:ext cx="7169948" cy="1089559"/>
            <a:chOff x="0" y="0"/>
            <a:chExt cx="9559930" cy="145274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2615722" cy="5788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34"/>
                </a:lnSpc>
              </a:pPr>
              <a:r>
                <a:rPr lang="en-US" b="true" sz="2596" spc="25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NAME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873918"/>
              <a:ext cx="2615722" cy="5788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34"/>
                </a:lnSpc>
              </a:pPr>
              <a:r>
                <a:rPr lang="en-US" b="true" sz="2596" spc="25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DATE 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3175998" y="873918"/>
              <a:ext cx="6383932" cy="5788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34"/>
                </a:lnSpc>
              </a:pPr>
              <a:r>
                <a:rPr lang="en-US" sz="2596" spc="25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28 May,2026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175998" y="-57150"/>
              <a:ext cx="6383932" cy="5788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34"/>
                </a:lnSpc>
              </a:pPr>
              <a:r>
                <a:rPr lang="en-US" sz="2596" spc="25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Pawan Kushwah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33588" y="5806884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961158" y="4246961"/>
            <a:ext cx="7060793" cy="6649983"/>
          </a:xfrm>
          <a:custGeom>
            <a:avLst/>
            <a:gdLst/>
            <a:ahLst/>
            <a:cxnLst/>
            <a:rect r="r" b="b" t="t" l="l"/>
            <a:pathLst>
              <a:path h="6649983" w="7060793">
                <a:moveTo>
                  <a:pt x="0" y="0"/>
                </a:moveTo>
                <a:lnTo>
                  <a:pt x="7060793" y="0"/>
                </a:lnTo>
                <a:lnTo>
                  <a:pt x="7060793" y="6649984"/>
                </a:lnTo>
                <a:lnTo>
                  <a:pt x="0" y="66499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664621" y="-753127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40626" y="3977108"/>
            <a:ext cx="6640906" cy="1829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Build a machine learning model to predict whether a customer will complete a booking using customer behavior and travel data.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40626" y="2263562"/>
            <a:ext cx="6640906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 OBJECTIVE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40626" y="6986888"/>
            <a:ext cx="581782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BRITISH AIRWAYS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35943" y="2263562"/>
            <a:ext cx="6640906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 DATASET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41747" y="3892268"/>
            <a:ext cx="6640906" cy="5030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Dataset Overview:</a:t>
            </a:r>
          </a:p>
          <a:p>
            <a:pPr algn="just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50,000 records</a:t>
            </a:r>
          </a:p>
          <a:p>
            <a:pPr algn="just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13 input features</a:t>
            </a:r>
          </a:p>
          <a:p>
            <a:pPr algn="just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Target variable: booking_complete</a:t>
            </a:r>
          </a:p>
          <a:p>
            <a:pPr algn="just">
              <a:lnSpc>
                <a:spcPts val="3621"/>
              </a:lnSpc>
            </a:pPr>
          </a:p>
          <a:p>
            <a:pPr algn="just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Features Included:</a:t>
            </a:r>
          </a:p>
          <a:p>
            <a:pPr algn="just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Purchase lead</a:t>
            </a:r>
          </a:p>
          <a:p>
            <a:pPr algn="just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Flight duration</a:t>
            </a:r>
          </a:p>
          <a:p>
            <a:pPr algn="just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Passenger count</a:t>
            </a:r>
          </a:p>
          <a:p>
            <a:pPr algn="just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Flight timing</a:t>
            </a:r>
          </a:p>
          <a:p>
            <a:pPr algn="just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Meals &amp; baggage preferences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92224" y="-3732007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98720"/>
            <a:ext cx="4932403" cy="10808055"/>
          </a:xfrm>
          <a:custGeom>
            <a:avLst/>
            <a:gdLst/>
            <a:ahLst/>
            <a:cxnLst/>
            <a:rect r="r" b="b" t="t" l="l"/>
            <a:pathLst>
              <a:path h="10808055" w="4932403">
                <a:moveTo>
                  <a:pt x="0" y="0"/>
                </a:moveTo>
                <a:lnTo>
                  <a:pt x="4932403" y="0"/>
                </a:lnTo>
                <a:lnTo>
                  <a:pt x="4932403" y="10808055"/>
                </a:lnTo>
                <a:lnTo>
                  <a:pt x="0" y="108080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17121" y="4900273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829833" y="3625250"/>
            <a:ext cx="3966882" cy="4493638"/>
            <a:chOff x="0" y="0"/>
            <a:chExt cx="5289176" cy="59915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89176" cy="3105187"/>
            </a:xfrm>
            <a:custGeom>
              <a:avLst/>
              <a:gdLst/>
              <a:ahLst/>
              <a:cxnLst/>
              <a:rect r="r" b="b" t="t" l="l"/>
              <a:pathLst>
                <a:path h="3105187" w="5289176">
                  <a:moveTo>
                    <a:pt x="0" y="0"/>
                  </a:moveTo>
                  <a:lnTo>
                    <a:pt x="5289176" y="0"/>
                  </a:lnTo>
                  <a:lnTo>
                    <a:pt x="5289176" y="3105187"/>
                  </a:lnTo>
                  <a:lnTo>
                    <a:pt x="0" y="3105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19886" y="2886330"/>
              <a:ext cx="5069290" cy="3105187"/>
            </a:xfrm>
            <a:custGeom>
              <a:avLst/>
              <a:gdLst/>
              <a:ahLst/>
              <a:cxnLst/>
              <a:rect r="r" b="b" t="t" l="l"/>
              <a:pathLst>
                <a:path h="3105187" w="5069290">
                  <a:moveTo>
                    <a:pt x="0" y="0"/>
                  </a:moveTo>
                  <a:lnTo>
                    <a:pt x="5069290" y="0"/>
                  </a:lnTo>
                  <a:lnTo>
                    <a:pt x="5069290" y="3105187"/>
                  </a:lnTo>
                  <a:lnTo>
                    <a:pt x="0" y="3105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337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2993300" y="5872069"/>
            <a:ext cx="3072097" cy="683535"/>
          </a:xfrm>
          <a:custGeom>
            <a:avLst/>
            <a:gdLst/>
            <a:ahLst/>
            <a:cxnLst/>
            <a:rect r="r" b="b" t="t" l="l"/>
            <a:pathLst>
              <a:path h="683535" w="3072097">
                <a:moveTo>
                  <a:pt x="0" y="0"/>
                </a:moveTo>
                <a:lnTo>
                  <a:pt x="3072097" y="0"/>
                </a:lnTo>
                <a:lnTo>
                  <a:pt x="3072097" y="683535"/>
                </a:lnTo>
                <a:lnTo>
                  <a:pt x="0" y="6835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8205" t="-12406" r="0" b="-225876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01210" y="2014709"/>
            <a:ext cx="14625411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MACHINE LEARNING WORKFLOW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76780" y="3812349"/>
            <a:ext cx="7764023" cy="45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Cleaning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46800" y="4521583"/>
            <a:ext cx="7764023" cy="45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 Encoding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46800" y="5230818"/>
            <a:ext cx="7764023" cy="45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Train-Test Split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46800" y="6003320"/>
            <a:ext cx="7764023" cy="45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Random Forest Model Training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46800" y="6669904"/>
            <a:ext cx="7764023" cy="45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 Evaluation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317711" y="7296389"/>
            <a:ext cx="3072097" cy="683535"/>
          </a:xfrm>
          <a:custGeom>
            <a:avLst/>
            <a:gdLst/>
            <a:ahLst/>
            <a:cxnLst/>
            <a:rect r="r" b="b" t="t" l="l"/>
            <a:pathLst>
              <a:path h="683535" w="3072097">
                <a:moveTo>
                  <a:pt x="0" y="0"/>
                </a:moveTo>
                <a:lnTo>
                  <a:pt x="3072096" y="0"/>
                </a:lnTo>
                <a:lnTo>
                  <a:pt x="3072096" y="683536"/>
                </a:lnTo>
                <a:lnTo>
                  <a:pt x="0" y="6835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8205" t="-12406" r="0" b="-225876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746800" y="7375731"/>
            <a:ext cx="7764023" cy="45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 Importance Analysis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97792" y="6984039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25991" y="54292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83217" y="-964573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83655" y="3650584"/>
            <a:ext cx="7882156" cy="4333205"/>
          </a:xfrm>
          <a:custGeom>
            <a:avLst/>
            <a:gdLst/>
            <a:ahLst/>
            <a:cxnLst/>
            <a:rect r="r" b="b" t="t" l="l"/>
            <a:pathLst>
              <a:path h="4333205" w="7882156">
                <a:moveTo>
                  <a:pt x="0" y="0"/>
                </a:moveTo>
                <a:lnTo>
                  <a:pt x="7882156" y="0"/>
                </a:lnTo>
                <a:lnTo>
                  <a:pt x="7882156" y="4333206"/>
                </a:lnTo>
                <a:lnTo>
                  <a:pt x="0" y="43332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13575" y="4157866"/>
            <a:ext cx="10079131" cy="3223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0"/>
              </a:lnSpc>
            </a:pPr>
            <a:r>
              <a:rPr lang="en-US" sz="30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Purchase lead time was the strongest predictor.</a:t>
            </a:r>
          </a:p>
          <a:p>
            <a:pPr algn="ctr">
              <a:lnSpc>
                <a:spcPts val="4230"/>
              </a:lnSpc>
            </a:pPr>
            <a:r>
              <a:rPr lang="en-US" sz="30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Flight hour and length of stay influenced bookings significantly.</a:t>
            </a:r>
          </a:p>
          <a:p>
            <a:pPr algn="ctr">
              <a:lnSpc>
                <a:spcPts val="4230"/>
              </a:lnSpc>
            </a:pPr>
            <a:r>
              <a:rPr lang="en-US" sz="30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Customers selecting meals and preferred seats were more likely to complete bookings.</a:t>
            </a:r>
          </a:p>
          <a:p>
            <a:pPr algn="ctr">
              <a:lnSpc>
                <a:spcPts val="423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796862" y="409575"/>
            <a:ext cx="11728707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RESULTS &amp; VISUALIZATION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452566" y="2206983"/>
            <a:ext cx="5796655" cy="796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6"/>
              </a:lnSpc>
            </a:pPr>
            <a:r>
              <a:rPr lang="en-US" sz="4811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MODEL PERFORMANCE 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968716" y="3641904"/>
            <a:ext cx="5796655" cy="796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6"/>
              </a:lnSpc>
            </a:pPr>
            <a:r>
              <a:rPr lang="en-US" sz="4811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KEY FINDINGS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06639" y="2292131"/>
            <a:ext cx="3643935" cy="1620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0"/>
              </a:lnSpc>
            </a:pPr>
            <a:r>
              <a:rPr lang="en-US" sz="30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Accuracy: 85.59%</a:t>
            </a:r>
          </a:p>
          <a:p>
            <a:pPr algn="ctr">
              <a:lnSpc>
                <a:spcPts val="4230"/>
              </a:lnSpc>
            </a:pPr>
          </a:p>
          <a:p>
            <a:pPr algn="ctr">
              <a:lnSpc>
                <a:spcPts val="423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31070" y="657225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0" y="0"/>
                </a:moveTo>
                <a:lnTo>
                  <a:pt x="4609247" y="0"/>
                </a:lnTo>
                <a:lnTo>
                  <a:pt x="4609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3425" y="54292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21492" y="4140004"/>
            <a:ext cx="10445016" cy="365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Random Forest model successfully predicted customer booking completion with strong accuracy.</a:t>
            </a:r>
          </a:p>
          <a:p>
            <a:pPr algn="ctr">
              <a:lnSpc>
                <a:spcPts val="3621"/>
              </a:lnSpc>
            </a:pPr>
          </a:p>
          <a:p>
            <a:pPr algn="ctr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analysis showed that booking timing, travel duration, and additional services significantly influence customer behavior.</a:t>
            </a:r>
          </a:p>
          <a:p>
            <a:pPr algn="ctr">
              <a:lnSpc>
                <a:spcPts val="3621"/>
              </a:lnSpc>
            </a:pPr>
          </a:p>
          <a:p>
            <a:pPr algn="ctr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model can help British Airways improve customer targeting and marketing strategies.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23547" y="2278282"/>
            <a:ext cx="6640906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8818" y="8883015"/>
            <a:ext cx="581782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BRITISH AIRWAYS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15156062" y="5658901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4609247" y="0"/>
                </a:moveTo>
                <a:lnTo>
                  <a:pt x="0" y="0"/>
                </a:lnTo>
                <a:lnTo>
                  <a:pt x="0" y="4114800"/>
                </a:lnTo>
                <a:lnTo>
                  <a:pt x="4609247" y="4114800"/>
                </a:lnTo>
                <a:lnTo>
                  <a:pt x="460924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DAHK8Enek-o</dc:identifier>
  <dcterms:modified xsi:type="dcterms:W3CDTF">2011-08-01T06:04:30Z</dcterms:modified>
  <cp:revision>1</cp:revision>
  <dc:title>British Airways Customer Booking Prediction</dc:title>
</cp:coreProperties>
</file>